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4"/>
  </p:notesMasterIdLst>
  <p:handoutMasterIdLst>
    <p:handoutMasterId r:id="rId15"/>
  </p:handoutMasterIdLst>
  <p:sldIdLst>
    <p:sldId id="312" r:id="rId5"/>
    <p:sldId id="304" r:id="rId6"/>
    <p:sldId id="307" r:id="rId7"/>
    <p:sldId id="282" r:id="rId8"/>
    <p:sldId id="314" r:id="rId9"/>
    <p:sldId id="315" r:id="rId10"/>
    <p:sldId id="316" r:id="rId11"/>
    <p:sldId id="317" r:id="rId12"/>
    <p:sldId id="297" r:id="rId1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388" autoAdjust="0"/>
  </p:normalViewPr>
  <p:slideViewPr>
    <p:cSldViewPr snapToGrid="0" snapToObjects="1">
      <p:cViewPr varScale="1">
        <p:scale>
          <a:sx n="91" d="100"/>
          <a:sy n="91" d="100"/>
        </p:scale>
        <p:origin x="322" y="6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36750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18113" y="453007"/>
            <a:ext cx="11903979" cy="830509"/>
          </a:xfrm>
        </p:spPr>
        <p:txBody>
          <a:bodyPr anchor="ctr"/>
          <a:lstStyle/>
          <a:p>
            <a:pPr algn="l"/>
            <a:r>
              <a:rPr lang="en-US" sz="2800" dirty="0"/>
              <a:t>Project title : </a:t>
            </a:r>
            <a:r>
              <a:rPr lang="en-US" sz="2800" dirty="0">
                <a:solidFill>
                  <a:schemeClr val="tx1"/>
                </a:solidFill>
              </a:rPr>
              <a:t>document verification system</a:t>
            </a:r>
          </a:p>
        </p:txBody>
      </p:sp>
      <p:sp>
        <p:nvSpPr>
          <p:cNvPr id="3" name="TextBox 2">
            <a:extLst>
              <a:ext uri="{FF2B5EF4-FFF2-40B4-BE49-F238E27FC236}">
                <a16:creationId xmlns:a16="http://schemas.microsoft.com/office/drawing/2014/main" id="{2178A05B-D7DC-49CF-0D8A-0B622F799DD4}"/>
              </a:ext>
            </a:extLst>
          </p:cNvPr>
          <p:cNvSpPr txBox="1"/>
          <p:nvPr/>
        </p:nvSpPr>
        <p:spPr>
          <a:xfrm>
            <a:off x="58723" y="4064389"/>
            <a:ext cx="5821959" cy="1323439"/>
          </a:xfrm>
          <a:prstGeom prst="rect">
            <a:avLst/>
          </a:prstGeom>
          <a:noFill/>
        </p:spPr>
        <p:txBody>
          <a:bodyPr wrap="square" rtlCol="0">
            <a:spAutoFit/>
          </a:bodyPr>
          <a:lstStyle/>
          <a:p>
            <a:r>
              <a:rPr lang="en-US" sz="2000" b="1" dirty="0"/>
              <a:t>Presented By : </a:t>
            </a:r>
            <a:endParaRPr lang="en-US" sz="2000" b="1" dirty="0">
              <a:solidFill>
                <a:schemeClr val="bg1"/>
              </a:solidFill>
            </a:endParaRPr>
          </a:p>
          <a:p>
            <a:r>
              <a:rPr lang="en-US" sz="2000" dirty="0"/>
              <a:t>                          </a:t>
            </a:r>
            <a:r>
              <a:rPr lang="en-US" sz="2000" dirty="0">
                <a:solidFill>
                  <a:schemeClr val="bg1"/>
                </a:solidFill>
              </a:rPr>
              <a:t>Chandan S Bhat</a:t>
            </a:r>
          </a:p>
          <a:p>
            <a:r>
              <a:rPr lang="en-US" sz="2000" dirty="0">
                <a:solidFill>
                  <a:schemeClr val="bg1"/>
                </a:solidFill>
              </a:rPr>
              <a:t>                          Shreeram</a:t>
            </a:r>
          </a:p>
          <a:p>
            <a:r>
              <a:rPr lang="en-US" sz="2000" dirty="0">
                <a:solidFill>
                  <a:schemeClr val="bg1"/>
                </a:solidFill>
              </a:rPr>
              <a:t>                          Sanjeevini Rama Ankolekar</a:t>
            </a:r>
          </a:p>
        </p:txBody>
      </p:sp>
      <p:sp>
        <p:nvSpPr>
          <p:cNvPr id="4" name="TextBox 3">
            <a:extLst>
              <a:ext uri="{FF2B5EF4-FFF2-40B4-BE49-F238E27FC236}">
                <a16:creationId xmlns:a16="http://schemas.microsoft.com/office/drawing/2014/main" id="{A2F55B48-323B-788E-3C3B-0C660E57433E}"/>
              </a:ext>
            </a:extLst>
          </p:cNvPr>
          <p:cNvSpPr txBox="1"/>
          <p:nvPr/>
        </p:nvSpPr>
        <p:spPr>
          <a:xfrm>
            <a:off x="3498210" y="2193446"/>
            <a:ext cx="5436066" cy="1200329"/>
          </a:xfrm>
          <a:prstGeom prst="rect">
            <a:avLst/>
          </a:prstGeom>
          <a:noFill/>
        </p:spPr>
        <p:txBody>
          <a:bodyPr wrap="square" rtlCol="0">
            <a:spAutoFit/>
          </a:bodyPr>
          <a:lstStyle/>
          <a:p>
            <a:r>
              <a:rPr lang="en-US" sz="2000" dirty="0"/>
              <a:t>COMPANY :  </a:t>
            </a:r>
            <a:r>
              <a:rPr lang="en-US" sz="2400" dirty="0"/>
              <a:t>PYGENICARC</a:t>
            </a:r>
          </a:p>
          <a:p>
            <a:r>
              <a:rPr lang="en-US" sz="2000" dirty="0"/>
              <a:t>ROLE           :  </a:t>
            </a:r>
            <a:r>
              <a:rPr lang="en-US" sz="2400" dirty="0"/>
              <a:t>Python Backend Developer</a:t>
            </a:r>
          </a:p>
          <a:p>
            <a:r>
              <a:rPr lang="en-US" sz="2000" dirty="0"/>
              <a:t>TEAM NO.  :  </a:t>
            </a:r>
            <a:r>
              <a:rPr lang="en-US" sz="2400" dirty="0"/>
              <a:t>10</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84974"/>
            <a:ext cx="6583680" cy="3207344"/>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Problem Statement</a:t>
            </a:r>
          </a:p>
          <a:p>
            <a:r>
              <a:rPr lang="en-US" dirty="0">
                <a:solidFill>
                  <a:schemeClr val="tx1"/>
                </a:solidFill>
                <a:latin typeface="Times New Roman" panose="02020603050405020304" pitchFamily="18" charset="0"/>
                <a:cs typeface="Times New Roman" panose="02020603050405020304" pitchFamily="18" charset="0"/>
              </a:rPr>
              <a:t>End-to-end Workflow </a:t>
            </a:r>
            <a:endParaRPr lang="en-US" dirty="0">
              <a:latin typeface="Times New Roman" panose="02020603050405020304" pitchFamily="18" charset="0"/>
              <a:cs typeface="Times New Roman" panose="02020603050405020304" pitchFamily="18" charset="0"/>
            </a:endParaRPr>
          </a:p>
          <a:p>
            <a:r>
              <a:rPr lang="en-US" dirty="0">
                <a:solidFill>
                  <a:schemeClr val="tx1"/>
                </a:solidFill>
              </a:rPr>
              <a:t>DVS Comparative Analysis</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rPr>
              <a:t>Features In-detail</a:t>
            </a:r>
            <a:endParaRPr lang="en-US" dirty="0">
              <a:solidFill>
                <a:schemeClr val="tx1"/>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851481" y="620784"/>
            <a:ext cx="8569355" cy="721455"/>
          </a:xfrm>
        </p:spPr>
        <p:txBody>
          <a:bodyPr/>
          <a:lstStyle/>
          <a:p>
            <a:r>
              <a:rPr lang="en-US" dirty="0"/>
              <a:t>problem statement</a:t>
            </a:r>
          </a:p>
        </p:txBody>
      </p:sp>
      <p:sp>
        <p:nvSpPr>
          <p:cNvPr id="6" name="TextBox 5">
            <a:extLst>
              <a:ext uri="{FF2B5EF4-FFF2-40B4-BE49-F238E27FC236}">
                <a16:creationId xmlns:a16="http://schemas.microsoft.com/office/drawing/2014/main" id="{B432D1B7-4A2E-B052-DC88-C777B2BAF646}"/>
              </a:ext>
            </a:extLst>
          </p:cNvPr>
          <p:cNvSpPr txBox="1"/>
          <p:nvPr/>
        </p:nvSpPr>
        <p:spPr>
          <a:xfrm>
            <a:off x="4278385" y="2768367"/>
            <a:ext cx="184731" cy="369332"/>
          </a:xfrm>
          <a:prstGeom prst="rect">
            <a:avLst/>
          </a:prstGeom>
          <a:noFill/>
        </p:spPr>
        <p:txBody>
          <a:bodyPr wrap="none" rtlCol="0">
            <a:spAutoFit/>
          </a:bodyPr>
          <a:lstStyle/>
          <a:p>
            <a:endParaRPr lang="en-US" dirty="0"/>
          </a:p>
        </p:txBody>
      </p:sp>
      <p:sp>
        <p:nvSpPr>
          <p:cNvPr id="11" name="TextBox 10">
            <a:extLst>
              <a:ext uri="{FF2B5EF4-FFF2-40B4-BE49-F238E27FC236}">
                <a16:creationId xmlns:a16="http://schemas.microsoft.com/office/drawing/2014/main" id="{CBAC87FF-D7E0-5DC8-7928-9C667C7E6080}"/>
              </a:ext>
            </a:extLst>
          </p:cNvPr>
          <p:cNvSpPr txBox="1"/>
          <p:nvPr/>
        </p:nvSpPr>
        <p:spPr>
          <a:xfrm>
            <a:off x="851481" y="1862356"/>
            <a:ext cx="8401576" cy="2806987"/>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Current document verification systems are primarily designed for identity verification or basic text extraction and are not suitable for university admission workflows. They do not validate academic correctness, enforce eligibility rules, or provide explainable rejection reasons. This results in manual effort, delays, and lack of transparency in admission decisions, highlighting the need for an admission-specific document verification system.</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838899" y="457199"/>
            <a:ext cx="10587128" cy="557869"/>
          </a:xfrm>
        </p:spPr>
        <p:txBody>
          <a:bodyPr/>
          <a:lstStyle/>
          <a:p>
            <a:r>
              <a:rPr lang="en-US" sz="3200" dirty="0"/>
              <a:t>document verification system</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751589" y="1468074"/>
            <a:ext cx="8967831" cy="5251508"/>
          </a:xfrm>
        </p:spPr>
        <p:txBody>
          <a:bodyPr>
            <a:normAutofit/>
          </a:bodyPr>
          <a:lstStyle/>
          <a:p>
            <a:pPr marL="0" indent="0">
              <a:buNone/>
            </a:pPr>
            <a:r>
              <a:rPr lang="en-US" sz="1900" b="1" dirty="0">
                <a:solidFill>
                  <a:schemeClr val="tx1"/>
                </a:solidFill>
                <a:latin typeface="Times New Roman" panose="02020603050405020304" pitchFamily="18" charset="0"/>
                <a:cs typeface="Times New Roman" panose="02020603050405020304" pitchFamily="18" charset="0"/>
              </a:rPr>
              <a:t>END-TO-END WORKFLOW </a:t>
            </a:r>
          </a:p>
          <a:p>
            <a:pPr marL="0" indent="0" algn="just">
              <a:buNone/>
            </a:pPr>
            <a:r>
              <a:rPr lang="en-US" sz="1700" b="1" dirty="0">
                <a:solidFill>
                  <a:schemeClr val="tx1"/>
                </a:solidFill>
                <a:latin typeface="Times New Roman" panose="02020603050405020304" pitchFamily="18" charset="0"/>
                <a:cs typeface="Times New Roman" panose="02020603050405020304" pitchFamily="18" charset="0"/>
              </a:rPr>
              <a:t>STAGE 1</a:t>
            </a:r>
            <a:r>
              <a:rPr lang="en-US" b="1"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rPr>
              <a:t>Document Upload &amp; Intake – Validates file format, clarity, completeness, and         document type. </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STAGE 2: </a:t>
            </a:r>
            <a:r>
              <a:rPr lang="en-US" dirty="0">
                <a:solidFill>
                  <a:schemeClr val="tx1"/>
                </a:solidFill>
                <a:latin typeface="Times New Roman" panose="02020603050405020304" pitchFamily="18" charset="0"/>
                <a:cs typeface="Times New Roman" panose="02020603050405020304" pitchFamily="18" charset="0"/>
              </a:rPr>
              <a:t>OCR &amp; Information Extraction – Extracts academic details with confidence scoring. </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STAGE 3: </a:t>
            </a:r>
            <a:r>
              <a:rPr lang="en-US" dirty="0">
                <a:solidFill>
                  <a:schemeClr val="tx1"/>
                </a:solidFill>
                <a:latin typeface="Times New Roman" panose="02020603050405020304" pitchFamily="18" charset="0"/>
                <a:cs typeface="Times New Roman" panose="02020603050405020304" pitchFamily="18" charset="0"/>
              </a:rPr>
              <a:t>Structural Authenticity Validation – Verifies layout, fonts, seals, and templates. </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STAGE 4: </a:t>
            </a:r>
            <a:r>
              <a:rPr lang="en-US" dirty="0">
                <a:solidFill>
                  <a:schemeClr val="tx1"/>
                </a:solidFill>
                <a:latin typeface="Times New Roman" panose="02020603050405020304" pitchFamily="18" charset="0"/>
                <a:cs typeface="Times New Roman" panose="02020603050405020304" pitchFamily="18" charset="0"/>
              </a:rPr>
              <a:t>Academic Semantic Validation – Checks subject-stream compatibility, grading schemes, and calculations. </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STAGE 5: </a:t>
            </a:r>
            <a:r>
              <a:rPr lang="en-US" dirty="0">
                <a:solidFill>
                  <a:schemeClr val="tx1"/>
                </a:solidFill>
                <a:latin typeface="Times New Roman" panose="02020603050405020304" pitchFamily="18" charset="0"/>
                <a:cs typeface="Times New Roman" panose="02020603050405020304" pitchFamily="18" charset="0"/>
              </a:rPr>
              <a:t>Cross-Document Consistency – Ensures identity and academic timeline consistency. </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STAGE 6: </a:t>
            </a:r>
            <a:r>
              <a:rPr lang="en-US" dirty="0">
                <a:solidFill>
                  <a:schemeClr val="tx1"/>
                </a:solidFill>
                <a:latin typeface="Times New Roman" panose="02020603050405020304" pitchFamily="18" charset="0"/>
                <a:cs typeface="Times New Roman" panose="02020603050405020304" pitchFamily="18" charset="0"/>
              </a:rPr>
              <a:t>University Eligibility Rule Enforcement – Applies program-specific eligibility criteria. </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STAGE 7: </a:t>
            </a:r>
            <a:r>
              <a:rPr lang="en-US" dirty="0">
                <a:solidFill>
                  <a:schemeClr val="tx1"/>
                </a:solidFill>
                <a:latin typeface="Times New Roman" panose="02020603050405020304" pitchFamily="18" charset="0"/>
                <a:cs typeface="Times New Roman" panose="02020603050405020304" pitchFamily="18" charset="0"/>
              </a:rPr>
              <a:t>Risk Aggregation &amp; Decision – Produces Valid / Invalid / Manual Review decision.</a:t>
            </a:r>
          </a:p>
          <a:p>
            <a:pPr marL="0" indent="0" algn="just">
              <a:buNone/>
            </a:pPr>
            <a:r>
              <a:rPr lang="en-US" b="1" dirty="0">
                <a:solidFill>
                  <a:schemeClr val="tx1"/>
                </a:solidFill>
                <a:latin typeface="Times New Roman" panose="02020603050405020304" pitchFamily="18" charset="0"/>
                <a:cs typeface="Times New Roman" panose="02020603050405020304" pitchFamily="18" charset="0"/>
              </a:rPr>
              <a:t>STAGE 8: </a:t>
            </a:r>
            <a:r>
              <a:rPr lang="en-US" dirty="0">
                <a:solidFill>
                  <a:schemeClr val="tx1"/>
                </a:solidFill>
                <a:latin typeface="Times New Roman" panose="02020603050405020304" pitchFamily="18" charset="0"/>
                <a:cs typeface="Times New Roman" panose="02020603050405020304" pitchFamily="18" charset="0"/>
              </a:rPr>
              <a:t>Explanation &amp; Guidance – Explains decision and guides corrective actions.</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260059" y="239088"/>
            <a:ext cx="11148368" cy="576929"/>
          </a:xfrm>
        </p:spPr>
        <p:txBody>
          <a:bodyPr/>
          <a:lstStyle/>
          <a:p>
            <a:r>
              <a:rPr lang="en-US" cap="none" dirty="0"/>
              <a:t>DVS C</a:t>
            </a:r>
            <a:r>
              <a:rPr lang="en-US" b="0" cap="none" dirty="0"/>
              <a:t>omparative Analysis</a:t>
            </a:r>
            <a:endParaRPr lang="en-US" cap="none"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1014744" y="239087"/>
            <a:ext cx="704675" cy="440421"/>
          </a:xfrm>
        </p:spPr>
        <p:txBody>
          <a:bodyPr/>
          <a:lstStyle/>
          <a:p>
            <a:fld id="{48F63A3B-78C7-47BE-AE5E-E10140E04643}" type="slidenum">
              <a:rPr lang="en-US" smtClean="0"/>
              <a:pPr/>
              <a:t>5</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3808750"/>
            <a:ext cx="7043618" cy="2233233"/>
          </a:xfrm>
        </p:spPr>
        <p:txBody>
          <a:bodyPr/>
          <a:lstStyle/>
          <a:p>
            <a:r>
              <a:rPr lang="en-US" dirty="0"/>
              <a:t>Enhancing your presentation</a:t>
            </a:r>
          </a:p>
        </p:txBody>
      </p:sp>
      <p:pic>
        <p:nvPicPr>
          <p:cNvPr id="6" name="Picture 5">
            <a:extLst>
              <a:ext uri="{FF2B5EF4-FFF2-40B4-BE49-F238E27FC236}">
                <a16:creationId xmlns:a16="http://schemas.microsoft.com/office/drawing/2014/main" id="{EA76A080-E1EE-7804-D976-89D5E4DBB18C}"/>
              </a:ext>
            </a:extLst>
          </p:cNvPr>
          <p:cNvPicPr>
            <a:picLocks noChangeAspect="1"/>
          </p:cNvPicPr>
          <p:nvPr/>
        </p:nvPicPr>
        <p:blipFill>
          <a:blip r:embed="rId3"/>
          <a:stretch>
            <a:fillRect/>
          </a:stretch>
        </p:blipFill>
        <p:spPr>
          <a:xfrm>
            <a:off x="1694576" y="989901"/>
            <a:ext cx="10024843" cy="5629013"/>
          </a:xfrm>
          <a:prstGeom prst="rect">
            <a:avLst/>
          </a:prstGeom>
        </p:spPr>
      </p:pic>
    </p:spTree>
    <p:extLst>
      <p:ext uri="{BB962C8B-B14F-4D97-AF65-F5344CB8AC3E}">
        <p14:creationId xmlns:p14="http://schemas.microsoft.com/office/powerpoint/2010/main" val="1131718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93F43-3792-2949-5C2F-FC9E040FE3A5}"/>
              </a:ext>
            </a:extLst>
          </p:cNvPr>
          <p:cNvSpPr>
            <a:spLocks noGrp="1"/>
          </p:cNvSpPr>
          <p:nvPr>
            <p:ph type="title"/>
          </p:nvPr>
        </p:nvSpPr>
        <p:spPr>
          <a:xfrm>
            <a:off x="765974" y="163009"/>
            <a:ext cx="9921600" cy="765679"/>
          </a:xfrm>
        </p:spPr>
        <p:txBody>
          <a:bodyPr/>
          <a:lstStyle/>
          <a:p>
            <a:r>
              <a:rPr lang="en-US" sz="3200" dirty="0"/>
              <a:t>Features In-detail</a:t>
            </a:r>
          </a:p>
        </p:txBody>
      </p:sp>
      <p:sp>
        <p:nvSpPr>
          <p:cNvPr id="3" name="Content Placeholder 2">
            <a:extLst>
              <a:ext uri="{FF2B5EF4-FFF2-40B4-BE49-F238E27FC236}">
                <a16:creationId xmlns:a16="http://schemas.microsoft.com/office/drawing/2014/main" id="{2F895DCF-AA61-2162-A4C0-F49180176B72}"/>
              </a:ext>
            </a:extLst>
          </p:cNvPr>
          <p:cNvSpPr>
            <a:spLocks noGrp="1"/>
          </p:cNvSpPr>
          <p:nvPr>
            <p:ph idx="1"/>
          </p:nvPr>
        </p:nvSpPr>
        <p:spPr>
          <a:xfrm>
            <a:off x="765974" y="1258350"/>
            <a:ext cx="9015589" cy="5243118"/>
          </a:xfrm>
        </p:spPr>
        <p:txBody>
          <a:bodyPr>
            <a:normAutofit fontScale="40000" lnSpcReduction="20000"/>
          </a:bodyPr>
          <a:lstStyle/>
          <a:p>
            <a:r>
              <a:rPr lang="en-US" sz="4000" b="1" dirty="0">
                <a:solidFill>
                  <a:schemeClr val="tx1"/>
                </a:solidFill>
                <a:latin typeface="Times New Roman" panose="02020603050405020304" pitchFamily="18" charset="0"/>
                <a:cs typeface="Times New Roman" panose="02020603050405020304" pitchFamily="18" charset="0"/>
              </a:rPr>
              <a:t>DOCUMENT UPLOAD &amp; DATA EXTRACTION ISSUES (STAGES 1–2)</a:t>
            </a:r>
          </a:p>
          <a:p>
            <a:r>
              <a:rPr lang="en-US" sz="4000" b="1" dirty="0">
                <a:solidFill>
                  <a:schemeClr val="tx1"/>
                </a:solidFill>
                <a:latin typeface="Times New Roman" panose="02020603050405020304" pitchFamily="18" charset="0"/>
                <a:cs typeface="Times New Roman" panose="02020603050405020304" pitchFamily="18" charset="0"/>
              </a:rPr>
              <a:t>Common Problems : </a:t>
            </a:r>
          </a:p>
          <a:p>
            <a:pPr marL="457200" indent="-457200">
              <a:buFont typeface="Wingdings" panose="05000000000000000000" pitchFamily="2" charset="2"/>
              <a:buChar char="q"/>
            </a:pPr>
            <a:r>
              <a:rPr lang="en-US" sz="4000" dirty="0">
                <a:solidFill>
                  <a:schemeClr val="tx1"/>
                </a:solidFill>
                <a:latin typeface="Times New Roman" panose="02020603050405020304" pitchFamily="18" charset="0"/>
                <a:cs typeface="Times New Roman" panose="02020603050405020304" pitchFamily="18" charset="0"/>
              </a:rPr>
              <a:t>Blurry / cropped documents</a:t>
            </a:r>
          </a:p>
          <a:p>
            <a:pPr marL="457200" indent="-457200">
              <a:buFont typeface="Wingdings" panose="05000000000000000000" pitchFamily="2" charset="2"/>
              <a:buChar char="q"/>
            </a:pPr>
            <a:r>
              <a:rPr lang="en-US" sz="4000" dirty="0">
                <a:solidFill>
                  <a:schemeClr val="tx1"/>
                </a:solidFill>
                <a:latin typeface="Times New Roman" panose="02020603050405020304" pitchFamily="18" charset="0"/>
                <a:cs typeface="Times New Roman" panose="02020603050405020304" pitchFamily="18" charset="0"/>
              </a:rPr>
              <a:t>Wrong file format (ZIP/DOCX)</a:t>
            </a:r>
          </a:p>
          <a:p>
            <a:pPr marL="457200" indent="-457200">
              <a:buFont typeface="Wingdings" panose="05000000000000000000" pitchFamily="2" charset="2"/>
              <a:buChar char="q"/>
            </a:pPr>
            <a:r>
              <a:rPr lang="en-US" sz="4000" dirty="0">
                <a:solidFill>
                  <a:schemeClr val="tx1"/>
                </a:solidFill>
                <a:latin typeface="Times New Roman" panose="02020603050405020304" pitchFamily="18" charset="0"/>
                <a:cs typeface="Times New Roman" panose="02020603050405020304" pitchFamily="18" charset="0"/>
              </a:rPr>
              <a:t>Missing mandatory documents</a:t>
            </a:r>
          </a:p>
          <a:p>
            <a:pPr marL="457200" indent="-457200">
              <a:buFont typeface="Wingdings" panose="05000000000000000000" pitchFamily="2" charset="2"/>
              <a:buChar char="q"/>
            </a:pPr>
            <a:r>
              <a:rPr lang="en-US" sz="4000" dirty="0">
                <a:solidFill>
                  <a:schemeClr val="tx1"/>
                </a:solidFill>
                <a:latin typeface="Times New Roman" panose="02020603050405020304" pitchFamily="18" charset="0"/>
                <a:cs typeface="Times New Roman" panose="02020603050405020304" pitchFamily="18" charset="0"/>
              </a:rPr>
              <a:t>OCR errors (Name, DOB, Marks not read properly)</a:t>
            </a:r>
          </a:p>
          <a:p>
            <a:r>
              <a:rPr lang="en-US" sz="4000" b="1" dirty="0">
                <a:solidFill>
                  <a:schemeClr val="tx1"/>
                </a:solidFill>
                <a:latin typeface="Times New Roman" panose="02020603050405020304" pitchFamily="18" charset="0"/>
                <a:cs typeface="Times New Roman" panose="02020603050405020304" pitchFamily="18" charset="0"/>
              </a:rPr>
              <a:t>System Message : </a:t>
            </a:r>
          </a:p>
          <a:p>
            <a:r>
              <a:rPr lang="en-US" sz="4000" dirty="0">
                <a:solidFill>
                  <a:schemeClr val="tx1"/>
                </a:solidFill>
                <a:latin typeface="Times New Roman" panose="02020603050405020304" pitchFamily="18" charset="0"/>
                <a:cs typeface="Times New Roman" panose="02020603050405020304" pitchFamily="18" charset="0"/>
              </a:rPr>
              <a:t>“We’re unable to read some documents clearly or extract details confidently.”</a:t>
            </a:r>
          </a:p>
          <a:p>
            <a:r>
              <a:rPr lang="en-US" sz="4000" b="1" dirty="0">
                <a:solidFill>
                  <a:schemeClr val="tx1"/>
                </a:solidFill>
                <a:latin typeface="Times New Roman" panose="02020603050405020304" pitchFamily="18" charset="0"/>
                <a:cs typeface="Times New Roman" panose="02020603050405020304" pitchFamily="18" charset="0"/>
              </a:rPr>
              <a:t>What Students Should Do : </a:t>
            </a:r>
          </a:p>
          <a:p>
            <a:r>
              <a:rPr lang="en-US" sz="4000" dirty="0">
                <a:solidFill>
                  <a:schemeClr val="tx1"/>
                </a:solidFill>
                <a:latin typeface="Times New Roman" panose="02020603050405020304" pitchFamily="18" charset="0"/>
                <a:cs typeface="Times New Roman" panose="02020603050405020304" pitchFamily="18" charset="0"/>
              </a:rPr>
              <a:t>Upload PDF or JPG only</a:t>
            </a:r>
          </a:p>
          <a:p>
            <a:r>
              <a:rPr lang="en-US" sz="4000" dirty="0">
                <a:solidFill>
                  <a:schemeClr val="tx1"/>
                </a:solidFill>
                <a:latin typeface="Times New Roman" panose="02020603050405020304" pitchFamily="18" charset="0"/>
                <a:cs typeface="Times New Roman" panose="02020603050405020304" pitchFamily="18" charset="0"/>
              </a:rPr>
              <a:t>Ensure:</a:t>
            </a:r>
          </a:p>
          <a:p>
            <a:pPr lvl="1">
              <a:buFont typeface="Wingdings" panose="05000000000000000000" pitchFamily="2" charset="2"/>
              <a:buChar char="q"/>
            </a:pPr>
            <a:r>
              <a:rPr lang="en-US" sz="4000" dirty="0">
                <a:solidFill>
                  <a:schemeClr val="tx1"/>
                </a:solidFill>
                <a:latin typeface="Times New Roman" panose="02020603050405020304" pitchFamily="18" charset="0"/>
                <a:cs typeface="Times New Roman" panose="02020603050405020304" pitchFamily="18" charset="0"/>
              </a:rPr>
              <a:t>Full page visible</a:t>
            </a:r>
          </a:p>
          <a:p>
            <a:pPr lvl="1">
              <a:buFont typeface="Wingdings" panose="05000000000000000000" pitchFamily="2" charset="2"/>
              <a:buChar char="q"/>
            </a:pPr>
            <a:r>
              <a:rPr lang="en-US" sz="4000" dirty="0">
                <a:solidFill>
                  <a:schemeClr val="tx1"/>
                </a:solidFill>
                <a:latin typeface="Times New Roman" panose="02020603050405020304" pitchFamily="18" charset="0"/>
                <a:cs typeface="Times New Roman" panose="02020603050405020304" pitchFamily="18" charset="0"/>
              </a:rPr>
              <a:t>Clear scan, good lighting</a:t>
            </a:r>
          </a:p>
          <a:p>
            <a:pPr lvl="1">
              <a:buFont typeface="Wingdings" panose="05000000000000000000" pitchFamily="2" charset="2"/>
              <a:buChar char="q"/>
            </a:pPr>
            <a:r>
              <a:rPr lang="en-US" sz="4000" dirty="0">
                <a:solidFill>
                  <a:schemeClr val="tx1"/>
                </a:solidFill>
                <a:latin typeface="Times New Roman" panose="02020603050405020304" pitchFamily="18" charset="0"/>
                <a:cs typeface="Times New Roman" panose="02020603050405020304" pitchFamily="18" charset="0"/>
              </a:rPr>
              <a:t>Use Preview before submitting</a:t>
            </a:r>
          </a:p>
          <a:p>
            <a:pPr lvl="1">
              <a:buFont typeface="Wingdings" panose="05000000000000000000" pitchFamily="2" charset="2"/>
              <a:buChar char="q"/>
            </a:pPr>
            <a:r>
              <a:rPr lang="en-US" sz="4000" dirty="0">
                <a:solidFill>
                  <a:schemeClr val="tx1"/>
                </a:solidFill>
                <a:latin typeface="Times New Roman" panose="02020603050405020304" pitchFamily="18" charset="0"/>
                <a:cs typeface="Times New Roman" panose="02020603050405020304" pitchFamily="18" charset="0"/>
              </a:rPr>
              <a:t>Manually verify extracted Name, DOB &amp; Marks</a:t>
            </a:r>
          </a:p>
          <a:p>
            <a:r>
              <a:rPr lang="en-US" sz="3400" dirty="0">
                <a:solidFill>
                  <a:schemeClr val="tx1"/>
                </a:solidFill>
                <a:latin typeface="Times New Roman" panose="02020603050405020304" pitchFamily="18" charset="0"/>
                <a:cs typeface="Times New Roman" panose="02020603050405020304" pitchFamily="18" charset="0"/>
              </a:rPr>
              <a:t>         </a:t>
            </a:r>
            <a:endParaRPr lang="en-US" dirty="0"/>
          </a:p>
        </p:txBody>
      </p:sp>
      <p:sp>
        <p:nvSpPr>
          <p:cNvPr id="4" name="Slide Number Placeholder 3">
            <a:extLst>
              <a:ext uri="{FF2B5EF4-FFF2-40B4-BE49-F238E27FC236}">
                <a16:creationId xmlns:a16="http://schemas.microsoft.com/office/drawing/2014/main" id="{B99A2846-B6D8-06E5-A372-63EE8F6B0B41}"/>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893850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795FBC-6335-4507-8E9A-08577BA610AB}"/>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
        <p:nvSpPr>
          <p:cNvPr id="7" name="Content Placeholder 2">
            <a:extLst>
              <a:ext uri="{FF2B5EF4-FFF2-40B4-BE49-F238E27FC236}">
                <a16:creationId xmlns:a16="http://schemas.microsoft.com/office/drawing/2014/main" id="{83AC0D8E-5616-81C5-7556-09EF3782B8E3}"/>
              </a:ext>
            </a:extLst>
          </p:cNvPr>
          <p:cNvSpPr>
            <a:spLocks noGrp="1"/>
          </p:cNvSpPr>
          <p:nvPr>
            <p:ph idx="1"/>
          </p:nvPr>
        </p:nvSpPr>
        <p:spPr>
          <a:xfrm>
            <a:off x="704675" y="928688"/>
            <a:ext cx="10033000" cy="5805488"/>
          </a:xfrm>
        </p:spPr>
        <p:txBody>
          <a:bodyPr>
            <a:normAutofit fontScale="40000" lnSpcReduction="20000"/>
          </a:bodyPr>
          <a:lstStyle/>
          <a:p>
            <a:r>
              <a:rPr lang="en-US" sz="4000" b="1" dirty="0">
                <a:solidFill>
                  <a:schemeClr val="tx1"/>
                </a:solidFill>
              </a:rPr>
              <a:t>AUTHENTICITY &amp; ACADEMIC VALIDATION (STAGES 3–5)</a:t>
            </a:r>
          </a:p>
          <a:p>
            <a:r>
              <a:rPr lang="en-US" sz="4000" b="1" dirty="0">
                <a:solidFill>
                  <a:schemeClr val="tx1"/>
                </a:solidFill>
                <a:latin typeface="Times New Roman" panose="02020603050405020304" pitchFamily="18" charset="0"/>
                <a:cs typeface="Times New Roman" panose="02020603050405020304" pitchFamily="18" charset="0"/>
              </a:rPr>
              <a:t>Common Problems : </a:t>
            </a:r>
          </a:p>
          <a:p>
            <a:pPr marL="457200" indent="-457200">
              <a:buFont typeface="Wingdings" panose="05000000000000000000" pitchFamily="2" charset="2"/>
              <a:buChar char="q"/>
            </a:pPr>
            <a:r>
              <a:rPr lang="en-US" sz="4000" dirty="0">
                <a:solidFill>
                  <a:schemeClr val="tx1"/>
                </a:solidFill>
              </a:rPr>
              <a:t>Document format doesn’t match official template</a:t>
            </a:r>
            <a:endParaRPr lang="en-US" sz="4000"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4000" dirty="0">
                <a:solidFill>
                  <a:schemeClr val="tx1"/>
                </a:solidFill>
              </a:rPr>
              <a:t>Missing seal / signature / watermark</a:t>
            </a:r>
            <a:endParaRPr lang="en-US" sz="4000"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4000" dirty="0">
                <a:solidFill>
                  <a:schemeClr val="tx1"/>
                </a:solidFill>
              </a:rPr>
              <a:t>Subject mismatch with selected stream</a:t>
            </a:r>
            <a:endParaRPr lang="en-US" sz="4000"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4000" dirty="0">
                <a:solidFill>
                  <a:schemeClr val="tx1"/>
                </a:solidFill>
              </a:rPr>
              <a:t>CGPA ↔ Percentage confusion</a:t>
            </a:r>
            <a:endParaRPr lang="en-US" sz="4000" dirty="0">
              <a:solidFill>
                <a:schemeClr val="tx1"/>
              </a:solidFill>
              <a:latin typeface="Times New Roman" panose="02020603050405020304" pitchFamily="18" charset="0"/>
              <a:cs typeface="Times New Roman" panose="02020603050405020304" pitchFamily="18" charset="0"/>
            </a:endParaRPr>
          </a:p>
          <a:p>
            <a:r>
              <a:rPr lang="en-US" sz="4000" b="1" dirty="0">
                <a:solidFill>
                  <a:schemeClr val="tx1"/>
                </a:solidFill>
                <a:latin typeface="Times New Roman" panose="02020603050405020304" pitchFamily="18" charset="0"/>
                <a:cs typeface="Times New Roman" panose="02020603050405020304" pitchFamily="18" charset="0"/>
              </a:rPr>
              <a:t>System Message : </a:t>
            </a:r>
          </a:p>
          <a:p>
            <a:r>
              <a:rPr lang="en-US" sz="4000" dirty="0">
                <a:solidFill>
                  <a:schemeClr val="tx1"/>
                </a:solidFill>
              </a:rPr>
              <a:t>“Document structure or academic details do not fully match official records.”</a:t>
            </a:r>
            <a:endParaRPr lang="en-US" sz="4000" dirty="0">
              <a:solidFill>
                <a:schemeClr val="tx1"/>
              </a:solidFill>
              <a:latin typeface="Times New Roman" panose="02020603050405020304" pitchFamily="18" charset="0"/>
              <a:cs typeface="Times New Roman" panose="02020603050405020304" pitchFamily="18" charset="0"/>
            </a:endParaRPr>
          </a:p>
          <a:p>
            <a:r>
              <a:rPr lang="en-US" sz="4000" b="1" dirty="0">
                <a:solidFill>
                  <a:schemeClr val="tx1"/>
                </a:solidFill>
                <a:latin typeface="Times New Roman" panose="02020603050405020304" pitchFamily="18" charset="0"/>
                <a:cs typeface="Times New Roman" panose="02020603050405020304" pitchFamily="18" charset="0"/>
              </a:rPr>
              <a:t>What Students Should Do : </a:t>
            </a:r>
          </a:p>
          <a:p>
            <a:r>
              <a:rPr lang="en-US" sz="4000" dirty="0">
                <a:solidFill>
                  <a:schemeClr val="tx1"/>
                </a:solidFill>
              </a:rPr>
              <a:t>Original digital or scanned originals</a:t>
            </a:r>
            <a:endParaRPr lang="en-US" sz="4000" dirty="0">
              <a:solidFill>
                <a:schemeClr val="tx1"/>
              </a:solidFill>
              <a:latin typeface="Times New Roman" panose="02020603050405020304" pitchFamily="18" charset="0"/>
              <a:cs typeface="Times New Roman" panose="02020603050405020304" pitchFamily="18" charset="0"/>
            </a:endParaRPr>
          </a:p>
          <a:p>
            <a:r>
              <a:rPr lang="en-US" sz="4000" dirty="0">
                <a:solidFill>
                  <a:schemeClr val="tx1"/>
                </a:solidFill>
                <a:latin typeface="Times New Roman" panose="02020603050405020304" pitchFamily="18" charset="0"/>
                <a:cs typeface="Times New Roman" panose="02020603050405020304" pitchFamily="18" charset="0"/>
              </a:rPr>
              <a:t>Ensure:</a:t>
            </a:r>
          </a:p>
          <a:p>
            <a:pPr lvl="1">
              <a:buFont typeface="Wingdings" panose="05000000000000000000" pitchFamily="2" charset="2"/>
              <a:buChar char="q"/>
            </a:pPr>
            <a:r>
              <a:rPr lang="en-US" sz="4000" dirty="0">
                <a:solidFill>
                  <a:schemeClr val="tx1"/>
                </a:solidFill>
              </a:rPr>
              <a:t>Correct stream &amp; grading system</a:t>
            </a:r>
            <a:endParaRPr lang="en-US" sz="4000" dirty="0">
              <a:solidFill>
                <a:schemeClr val="tx1"/>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en-US" sz="4000" dirty="0">
                <a:solidFill>
                  <a:schemeClr val="tx1"/>
                </a:solidFill>
              </a:rPr>
              <a:t>Same name format in all documents</a:t>
            </a:r>
            <a:endParaRPr lang="en-US" sz="4000" dirty="0">
              <a:solidFill>
                <a:schemeClr val="tx1"/>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en-US" sz="4000" dirty="0">
                <a:solidFill>
                  <a:schemeClr val="tx1"/>
                </a:solidFill>
              </a:rPr>
              <a:t>CGPA conversion certificate</a:t>
            </a:r>
            <a:endParaRPr lang="en-US" sz="4000" dirty="0">
              <a:solidFill>
                <a:schemeClr val="tx1"/>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en-US" sz="4000" dirty="0">
                <a:solidFill>
                  <a:schemeClr val="tx1"/>
                </a:solidFill>
              </a:rPr>
              <a:t>Name correction</a:t>
            </a:r>
          </a:p>
          <a:p>
            <a:pPr lvl="1">
              <a:buFont typeface="Wingdings" panose="05000000000000000000" pitchFamily="2" charset="2"/>
              <a:buChar char="q"/>
            </a:pPr>
            <a:r>
              <a:rPr lang="en-US" sz="4000" dirty="0">
                <a:solidFill>
                  <a:schemeClr val="tx1"/>
                </a:solidFill>
              </a:rPr>
              <a:t>Gap certificate (if applicable)</a:t>
            </a:r>
            <a:endParaRPr lang="en-US" sz="4000" dirty="0">
              <a:solidFill>
                <a:schemeClr val="tx1"/>
              </a:solidFill>
              <a:latin typeface="Times New Roman" panose="02020603050405020304" pitchFamily="18" charset="0"/>
              <a:cs typeface="Times New Roman" panose="02020603050405020304" pitchFamily="18" charset="0"/>
            </a:endParaRPr>
          </a:p>
          <a:p>
            <a:r>
              <a:rPr lang="en-US" sz="3400" dirty="0">
                <a:solidFill>
                  <a:schemeClr val="tx1"/>
                </a:solidFill>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1461288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CF8479-9C35-A6B8-7E13-E09D7DF6F533}"/>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
        <p:nvSpPr>
          <p:cNvPr id="5" name="Content Placeholder 2">
            <a:extLst>
              <a:ext uri="{FF2B5EF4-FFF2-40B4-BE49-F238E27FC236}">
                <a16:creationId xmlns:a16="http://schemas.microsoft.com/office/drawing/2014/main" id="{E289A4B4-4E78-50E4-FE75-DE870F0C9635}"/>
              </a:ext>
            </a:extLst>
          </p:cNvPr>
          <p:cNvSpPr>
            <a:spLocks noGrp="1"/>
          </p:cNvSpPr>
          <p:nvPr>
            <p:ph idx="1"/>
          </p:nvPr>
        </p:nvSpPr>
        <p:spPr>
          <a:xfrm>
            <a:off x="914400" y="720725"/>
            <a:ext cx="8506437" cy="4279114"/>
          </a:xfrm>
        </p:spPr>
        <p:txBody>
          <a:bodyPr>
            <a:normAutofit fontScale="40000" lnSpcReduction="20000"/>
          </a:bodyPr>
          <a:lstStyle/>
          <a:p>
            <a:r>
              <a:rPr lang="en-US" sz="4000" b="1" dirty="0">
                <a:solidFill>
                  <a:schemeClr val="tx1"/>
                </a:solidFill>
              </a:rPr>
              <a:t>ELIGIBILITY, FINAL DECISION &amp; GUIDANCE (STAGES 6–8)</a:t>
            </a:r>
          </a:p>
          <a:p>
            <a:r>
              <a:rPr lang="en-US" sz="4000" b="1" dirty="0">
                <a:solidFill>
                  <a:schemeClr val="tx1"/>
                </a:solidFill>
                <a:latin typeface="Times New Roman" panose="02020603050405020304" pitchFamily="18" charset="0"/>
                <a:cs typeface="Times New Roman" panose="02020603050405020304" pitchFamily="18" charset="0"/>
              </a:rPr>
              <a:t>Common Problems : </a:t>
            </a:r>
          </a:p>
          <a:p>
            <a:pPr marL="457200" indent="-457200">
              <a:buFont typeface="Wingdings" panose="05000000000000000000" pitchFamily="2" charset="2"/>
              <a:buChar char="q"/>
            </a:pPr>
            <a:r>
              <a:rPr lang="en-US" sz="4000" dirty="0">
                <a:solidFill>
                  <a:schemeClr val="tx1"/>
                </a:solidFill>
              </a:rPr>
              <a:t>Marks below cutoff</a:t>
            </a:r>
            <a:endParaRPr lang="en-US" sz="4000"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4000" dirty="0">
                <a:solidFill>
                  <a:schemeClr val="tx1"/>
                </a:solidFill>
              </a:rPr>
              <a:t>Mandatory subject missing</a:t>
            </a:r>
            <a:endParaRPr lang="en-US" sz="4000"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4000" dirty="0">
                <a:solidFill>
                  <a:schemeClr val="tx1"/>
                </a:solidFill>
              </a:rPr>
              <a:t>Eligibility criteria not met</a:t>
            </a:r>
            <a:endParaRPr lang="en-US" sz="4000"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4000" dirty="0">
                <a:solidFill>
                  <a:schemeClr val="tx1"/>
                </a:solidFill>
              </a:rPr>
              <a:t>High-risk authenticity issues</a:t>
            </a:r>
            <a:endParaRPr lang="en-US" sz="4000" dirty="0">
              <a:solidFill>
                <a:schemeClr val="tx1"/>
              </a:solidFill>
              <a:latin typeface="Times New Roman" panose="02020603050405020304" pitchFamily="18" charset="0"/>
              <a:cs typeface="Times New Roman" panose="02020603050405020304" pitchFamily="18" charset="0"/>
            </a:endParaRPr>
          </a:p>
          <a:p>
            <a:r>
              <a:rPr lang="en-US" sz="4000" b="1" dirty="0">
                <a:solidFill>
                  <a:schemeClr val="tx1"/>
                </a:solidFill>
                <a:latin typeface="Times New Roman" panose="02020603050405020304" pitchFamily="18" charset="0"/>
                <a:cs typeface="Times New Roman" panose="02020603050405020304" pitchFamily="18" charset="0"/>
              </a:rPr>
              <a:t>System Message : </a:t>
            </a:r>
          </a:p>
          <a:p>
            <a:r>
              <a:rPr lang="en-US" sz="4000" dirty="0">
                <a:solidFill>
                  <a:schemeClr val="tx1"/>
                </a:solidFill>
                <a:latin typeface="Times New Roman" panose="02020603050405020304" pitchFamily="18" charset="0"/>
                <a:cs typeface="Times New Roman" panose="02020603050405020304" pitchFamily="18" charset="0"/>
              </a:rPr>
              <a:t>“We’re unable to read some documents clearly or extract details confidently.”</a:t>
            </a:r>
          </a:p>
          <a:p>
            <a:r>
              <a:rPr lang="en-US" sz="4000" b="1" dirty="0">
                <a:solidFill>
                  <a:schemeClr val="tx1"/>
                </a:solidFill>
                <a:latin typeface="Times New Roman" panose="02020603050405020304" pitchFamily="18" charset="0"/>
                <a:cs typeface="Times New Roman" panose="02020603050405020304" pitchFamily="18" charset="0"/>
              </a:rPr>
              <a:t>What Students Should Do : </a:t>
            </a:r>
          </a:p>
          <a:p>
            <a:r>
              <a:rPr lang="en-US" sz="4000" dirty="0">
                <a:solidFill>
                  <a:schemeClr val="tx1"/>
                </a:solidFill>
                <a:latin typeface="Times New Roman" panose="02020603050405020304" pitchFamily="18" charset="0"/>
                <a:cs typeface="Times New Roman" panose="02020603050405020304" pitchFamily="18" charset="0"/>
              </a:rPr>
              <a:t>Check :</a:t>
            </a:r>
          </a:p>
          <a:p>
            <a:pPr lvl="1">
              <a:buFont typeface="Wingdings" panose="05000000000000000000" pitchFamily="2" charset="2"/>
              <a:buChar char="q"/>
            </a:pPr>
            <a:r>
              <a:rPr lang="en-US" sz="4000" dirty="0">
                <a:solidFill>
                  <a:schemeClr val="tx1"/>
                </a:solidFill>
              </a:rPr>
              <a:t>Eligible alternative programs</a:t>
            </a:r>
            <a:endParaRPr lang="en-US" sz="4000" dirty="0">
              <a:solidFill>
                <a:schemeClr val="tx1"/>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en-US" sz="4000" dirty="0">
                <a:solidFill>
                  <a:schemeClr val="tx1"/>
                </a:solidFill>
              </a:rPr>
              <a:t>Relaxation rules (if applicable)</a:t>
            </a:r>
            <a:endParaRPr lang="en-US" sz="4000" dirty="0">
              <a:solidFill>
                <a:schemeClr val="tx1"/>
              </a:solidFill>
              <a:latin typeface="Times New Roman" panose="02020603050405020304" pitchFamily="18" charset="0"/>
              <a:cs typeface="Times New Roman" panose="02020603050405020304" pitchFamily="18" charset="0"/>
            </a:endParaRPr>
          </a:p>
          <a:p>
            <a:r>
              <a:rPr lang="en-US" sz="3400" dirty="0">
                <a:solidFill>
                  <a:schemeClr val="tx1"/>
                </a:solidFill>
                <a:latin typeface="Times New Roman" panose="02020603050405020304" pitchFamily="18" charset="0"/>
                <a:cs typeface="Times New Roman" panose="02020603050405020304" pitchFamily="18" charset="0"/>
              </a:rPr>
              <a:t>         </a:t>
            </a:r>
            <a:endParaRPr lang="en-US" dirty="0"/>
          </a:p>
        </p:txBody>
      </p:sp>
    </p:spTree>
    <p:extLst>
      <p:ext uri="{BB962C8B-B14F-4D97-AF65-F5344CB8AC3E}">
        <p14:creationId xmlns:p14="http://schemas.microsoft.com/office/powerpoint/2010/main" val="2965782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6593746" cy="2727709"/>
          </a:xfrm>
        </p:spPr>
        <p:txBody>
          <a:bodyPr/>
          <a:lstStyle/>
          <a:p>
            <a:r>
              <a:rPr lang="en-US" dirty="0"/>
              <a:t>Thank YOU</a:t>
            </a:r>
            <a:br>
              <a:rPr lang="en-US" dirty="0"/>
            </a:br>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{E2759EB0-6755-4E27-A926-010B4DE9AFC9}TF8a9b5915-b8c7-461e-8cdd-693d48b5e32371f7b7e2_win32-4bf0b9a2ea37</Template>
  <TotalTime>60</TotalTime>
  <Words>489</Words>
  <Application>Microsoft Office PowerPoint</Application>
  <PresentationFormat>Widescreen</PresentationFormat>
  <Paragraphs>81</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Calibri</vt:lpstr>
      <vt:lpstr>Sabon Next LT</vt:lpstr>
      <vt:lpstr>Times New Roman</vt:lpstr>
      <vt:lpstr>Wingdings</vt:lpstr>
      <vt:lpstr>Custom</vt:lpstr>
      <vt:lpstr>Project title : document verification system</vt:lpstr>
      <vt:lpstr>agenda</vt:lpstr>
      <vt:lpstr>problem statement</vt:lpstr>
      <vt:lpstr>document verification system</vt:lpstr>
      <vt:lpstr>DVS Comparative Analysis</vt:lpstr>
      <vt:lpstr>Features In-detail</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Sanjeevini Rama Ankolekar</dc:creator>
  <cp:lastModifiedBy>Sanjeevini Rama Ankolekar</cp:lastModifiedBy>
  <cp:revision>3</cp:revision>
  <dcterms:created xsi:type="dcterms:W3CDTF">2026-02-09T14:16:32Z</dcterms:created>
  <dcterms:modified xsi:type="dcterms:W3CDTF">2026-02-09T15:21:01Z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